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Dağılım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833A"/>
              </a:solidFill>
              <a:effectLst/>
            </c:spPr>
          </c:dPt>
          <c:dPt>
            <c:idx val="1"/>
            <c:bubble3D val="0"/>
            <c:spPr>
              <a:solidFill>
                <a:srgbClr val="5B6B7B"/>
              </a:solidFill>
              <a:effectLst/>
            </c:spPr>
          </c:dPt>
          <c:dPt>
            <c:idx val="2"/>
            <c:bubble3D val="0"/>
            <c:spPr>
              <a:solidFill>
                <a:srgbClr val="C96A28"/>
              </a:solidFill>
              <a:effectLst/>
            </c:spPr>
          </c:dPt>
          <c:dPt>
            <c:idx val="3"/>
            <c:bubble3D val="0"/>
            <c:spPr>
              <a:solidFill>
                <a:srgbClr val="16395C"/>
              </a:solidFill>
              <a:effectLst/>
            </c:spPr>
          </c:dPt>
          <c:dPt>
            <c:idx val="4"/>
            <c:bubble3D val="0"/>
            <c:spPr>
              <a:solidFill>
                <a:srgbClr val="2A9D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Yardım</c:v>
                </c:pt>
                <c:pt idx="1">
                  <c:v>Diğer</c:v>
                </c:pt>
                <c:pt idx="2">
                  <c:v>Bağış</c:v>
                </c:pt>
                <c:pt idx="3">
                  <c:v>Altyapı</c:v>
                </c:pt>
                <c:pt idx="4">
                  <c:v>Kayıp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289</c:v>
                </c:pt>
                <c:pt idx="1">
                  <c:v>201</c:v>
                </c:pt>
                <c:pt idx="2">
                  <c:v>105</c:v>
                </c:pt>
                <c:pt idx="3">
                  <c:v>100</c:v>
                </c:pt>
                <c:pt idx="4">
                  <c:v>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SmolLM2-360M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0.38</c:v>
                </c:pt>
                <c:pt idx="2">
                  <c:v>0.59</c:v>
                </c:pt>
                <c:pt idx="3">
                  <c:v>0.42</c:v>
                </c:pt>
                <c:pt idx="4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TinyLlama-1.1B</c:v>
                </c:pt>
              </c:strCache>
            </c:strRef>
          </c:tx>
          <c:spPr>
            <a:solidFill>
              <a:srgbClr val="163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0.95</c:v>
                </c:pt>
                <c:pt idx="1">
                  <c:v>0.95</c:v>
                </c:pt>
                <c:pt idx="2">
                  <c:v>0.95</c:v>
                </c:pt>
                <c:pt idx="3">
                  <c:v>0.74</c:v>
                </c:pt>
                <c:pt idx="4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Qwen2.5-1.5B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0.95</c:v>
                </c:pt>
                <c:pt idx="1">
                  <c:v>0.89</c:v>
                </c:pt>
                <c:pt idx="2">
                  <c:v>1</c:v>
                </c:pt>
                <c:pt idx="3">
                  <c:v>0.78</c:v>
                </c:pt>
                <c:pt idx="4">
                  <c:v>0.95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Gemma-4-E2B</c:v>
                </c:pt>
              </c:strCache>
            </c:strRef>
          </c:tx>
          <c:spPr>
            <a:solidFill>
              <a:srgbClr val="C96A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0.86</c:v>
                </c:pt>
                <c:pt idx="1">
                  <c:v>0.46</c:v>
                </c:pt>
                <c:pt idx="2">
                  <c:v>0.91</c:v>
                </c:pt>
                <c:pt idx="3">
                  <c:v>0.76</c:v>
                </c:pt>
                <c:pt idx="4">
                  <c:v>0.71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E8833A"/>
            </a:solidFill>
            <a:ln w="50800" cap="flat">
              <a:solidFill>
                <a:srgbClr val="E88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274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833A"/>
              </a:solidFill>
              <a:ln w="9525" cap="flat">
                <a:solidFill>
                  <a:srgbClr val="E88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360M
SmolLM2</c:v>
                  </c:pt>
                  <c:pt idx="1">
                    <c:v>1.1B
TinyLlama</c:v>
                  </c:pt>
                  <c:pt idx="2">
                    <c:v>1.5B
Qwen2.5</c:v>
                  </c:pt>
                  <c:pt idx="3">
                    <c:v>5B
Gemma-4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0.588</c:v>
                </c:pt>
                <c:pt idx="1">
                  <c:v>0.908</c:v>
                </c:pt>
                <c:pt idx="2">
                  <c:v>0.914</c:v>
                </c:pt>
                <c:pt idx="3">
                  <c:v>0.74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F274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DİL MODELLERİ — DÖNEM PROJESİ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Sınıflandırması için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Tabanlı İnce Ayar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Dil Modelleri Üzerinde Karşılaştırmalı Benchmark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Koordinasyon: Saliha Göçergi (LoRA çalışması)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Selçuk Üniversitesi · Mayıs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MOTIVASYON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Afette Bilgi Yığını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Kahramanmaraş depremlerinde Twitter (X), yardım çağrılarının, kayıp bildirimlerinin ve koordinasyonun aktığı kritik bir kanal oldu.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hacmi manuel analizi imkânsız kılıyor → otomatik sınıflandırma bir karar destek ihtiyacı.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düşük maliyetli donanımda çalışabilen Küçük Dil Modellerini QLoRA ile ince ayarlamak.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 SORULARI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0" y="237744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SLM'ler QLoRA ile yeterli doğruluğa ulaşır mı?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boyutu–başarı ilişkisi nedir, nerede doygunlaşır?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QLoRA: doğruluk–bellek dengesi?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TANIMI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Sınıflı Taksonomi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5623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 Talebi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Acil yardım, kurtarma, malzeme çağrısı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n=289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78892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Bildirimi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0815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Ulaşılamayan / kayıp kişi aramaları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2640" y="286207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n=98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557016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2160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6395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721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Altyapı Hasarı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0142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Yıkık bina, kapalı yol, şebeke kesintisi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3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489704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465429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6A28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6542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46085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/ Koordinasyon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63040" y="494690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Bağış, IBAN, gönüllü, lojistik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0" y="47274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5422392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" y="55869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5B6B7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5869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63040" y="55412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/ İlgisiz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463040" y="587959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Haber, taziye, eleştiri, off-topic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92640" y="566013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n=201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Elle Etiketlenmiş Tweet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0350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Kaggle "Turkey Earthquake Relief Tweets" (Ulku Tuncer Küçüktaş, 2023).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havuzdan 793 tweet seçilip beş sınıfa elle etiketlendi.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metin Kaggle'dan; 5 sınıflı etiketler bu çalışmaya özgü. Zayıf/sentetik etiketleme denendi, kalite için elle etiketli set tercih edildi.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işleme: URL/@kullanıcı anonimleştirme, boşluk normalizasyonu. Türkçe karakter, hashtag, emoji korundu.</a:t>
            </a:r>
            <a:endParaRPr lang="en-US" sz="1350" dirty="0"/>
          </a:p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Bölme: %80/10/10 stratified → 633 / 80 / 80 · seed=42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949440" y="16002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ve Modeller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4592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NEDİR?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NormalFloat (NF4) kuantizasyon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kuantizasyon + sayfalı optimizasyon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r=16, α=32, hedef q/k/v/o_proj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Eğitilebilir parametre &lt; %1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Üretken SFT: model kategori adını üretir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KULLANILAN MODELLER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TinyLlama-1.1B-Chat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Gemma-4-E2B-it (Unsloth)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5B / ~2B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5029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Donanım: Google Colab — NVIDIA T4 (16 GB) · 3 epoch · lr 2e-4 · bf16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Sonuç Tablosu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338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914400"/>
                <a:gridCol w="1097280"/>
                <a:gridCol w="1417320"/>
                <a:gridCol w="1188720"/>
                <a:gridCol w="128016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Eğt(s)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Size(MB)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074920"/>
            <a:ext cx="11338560" cy="1143000"/>
          </a:xfrm>
          <a:prstGeom prst="roundRect">
            <a:avLst>
              <a:gd name="adj" fmla="val 4800"/>
            </a:avLst>
          </a:prstGeom>
          <a:solidFill>
            <a:srgbClr val="FFF3E6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138928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bulgu: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tüm modellerde zayıf (en iyi 0.39) → QLoRA çarpıcı iyileşme (0.914). Qwen zero-shot'ta bile 0/80 parse hatası; TinyLlama 79/80 çöküş. </a:t>
            </a: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Sürpriz: en büyük model Gemma-4 (5B) en küçüklerin gerisinde — küçük veride aşırı uydurma. </a:t>
            </a:r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Adaptör boyutları küçük (6.6–62 MB): üretim için pratik.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Bazlı F1 Karşılaştırması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45920"/>
          <a:ext cx="7589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503920" y="1783080"/>
            <a:ext cx="3108960" cy="3931920"/>
          </a:xfrm>
          <a:prstGeom prst="roundRect">
            <a:avLst>
              <a:gd name="adj" fmla="val 2353"/>
            </a:avLst>
          </a:prstGeom>
          <a:solidFill>
            <a:srgbClr val="0F2741"/>
          </a:solidFill>
          <a:ln/>
        </p:spPr>
      </p:sp>
      <p:sp>
        <p:nvSpPr>
          <p:cNvPr id="8" name="Text 5"/>
          <p:cNvSpPr/>
          <p:nvPr/>
        </p:nvSpPr>
        <p:spPr>
          <a:xfrm>
            <a:off x="8732520" y="1965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32520" y="2331720"/>
            <a:ext cx="2697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&amp; Qwen tüm sınıflarda güçlü.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azınlık sınıflarda çöküyor.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Kayıp'ta zayıf (recall 0.30) — overfit etkisi.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FF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3 modelde en zayıf — Yardım ile örtüşme.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 Etkisi ve Verimlilik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9164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≠ better (küçük veride)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360M → 1.1B: +0.32 (büyük sıçrama)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1.1B → 1.5B: +0.006 (doygunluk)</a:t>
            </a:r>
            <a:endParaRPr lang="en-US" sz="17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→ 5B: −0.17 (Gemma-4 aşırı uydurma!)</a:t>
            </a:r>
            <a:endParaRPr lang="en-US" sz="17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</a:t>
            </a:r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1–1.5B. TinyLlama, Qwen'e ~eşit skoru %35 daha az GPU ile veriyor (3.29 vs 5.07 GB).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ANALIZI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Bağış/Koordinasyon: Evrensel Zayıf Nokta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modellerde en zayıf sınıf Bağış/Koordinasyon (F1: 0.42 / 0.74 / 0.78).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 Bağış tweet'leri de malzeme, adres, ihtiyaç ifadeleri içeriyor → Yardım Talebi ile semantik örtüşme.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TinyLlama: 11 bağıştan 4'ü yanlış (2 Yardım). Qwen: 2'si Yardım'a kaydı.</a:t>
            </a:r>
            <a:endParaRPr lang="en-US" sz="1550" dirty="0"/>
          </a:p>
          <a:p>
            <a:pPr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yorumu: </a:t>
            </a:r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Afette yanlış negatif kritik. Yardım Talebi'nde recall yüksek (TinyLlama 0.97, Qwen 1.00) — en kritik sınıf güvende.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0" y="1737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 — Karışıklık (özet)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2148840"/>
          <a:ext cx="4206240" cy="914400"/>
        </p:xfrm>
        <a:graphic>
          <a:graphicData uri="http://schemas.openxmlformats.org/drawingml/2006/table">
            <a:tbl>
              <a:tblPr/>
              <a:tblGrid>
                <a:gridCol w="694944"/>
                <a:gridCol w="702259"/>
                <a:gridCol w="702259"/>
                <a:gridCol w="702259"/>
                <a:gridCol w="702259"/>
                <a:gridCol w="702259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406640" y="5029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Köşegen = doğru. Bağış→Yardım kaymaları görülüyor.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KARŞILAŞTIRMA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 — Projenin Ana Katkısı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0020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çalışma birbirinin tam kopyası değil; </a:t>
            </a:r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Saliha: SEQ_CLS + class-weighted CE + dedup 755 örnek + LoRA r=8; bu çalışma: üretken SFT + 793 örnek + QLoRA r=16. Sayıları metodolojik bağlamla yorumlamak gerek.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972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4023360"/>
                <a:gridCol w="40233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(Saliha, 3-seed)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 (bu çalışma)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 ± 0.000  (çöktü)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 / Hız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 MB · 64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 MB · 1542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 ± 0.033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 / Hız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1973 MB · 45 ms 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MB ⭐ · 960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 ± 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 / Hız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2944 MB · 58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 MB · 1120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 ± 0.020  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  (overfit)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 / Hız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4987 MB · 64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MB · 1798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257800"/>
            <a:ext cx="10972800" cy="960120"/>
          </a:xfrm>
          <a:prstGeom prst="roundRect">
            <a:avLst>
              <a:gd name="adj" fmla="val 5714"/>
            </a:avLst>
          </a:prstGeom>
          <a:solidFill>
            <a:srgbClr val="FFF3E6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5321808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boyutta </a:t>
            </a:r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~200× küçük</a:t>
            </a:r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(adaptör 7–62 MB vs 700–5000 MB) — edge için kazanan. LoRA hızda </a:t>
            </a:r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~20× hızlı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(T4 emülasyonu altında) — eğitim/sunucu için kazanan. </a:t>
            </a:r>
            <a:endParaRPr lang="en-US" sz="13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yöntem birbirinin yerini tutmaz — farklı senaryolara hizmet eder.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DEĞERLENDIRME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Cihaz Uygunluğu ve Limitasyonlar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CIHAZ UYGUNLUĞU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7315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18872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Tepe GPU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Adaptör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Uygunluk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Üst telefon NPU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Önerilen edge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Tablet / laptop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9.73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için uygun değil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Önerilen edge varsayılanı: TinyLlama-1.1B — Qwen'e yakın skor (0.91), 4-bit base + adaptör ≈ 560 MB toplam.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138160" y="1691640"/>
            <a:ext cx="3657600" cy="4206240"/>
          </a:xfrm>
          <a:prstGeom prst="roundRect">
            <a:avLst>
              <a:gd name="adj" fmla="val 2000"/>
            </a:avLst>
          </a:prstGeom>
          <a:solidFill>
            <a:srgbClr val="0F2741"/>
          </a:solidFill>
          <a:ln/>
        </p:spPr>
      </p:sp>
      <p:sp>
        <p:nvSpPr>
          <p:cNvPr id="10" name="Text 7"/>
          <p:cNvSpPr/>
          <p:nvPr/>
        </p:nvSpPr>
        <p:spPr>
          <a:xfrm>
            <a:off x="8321040" y="1874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LİMİTASYONLAR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321040" y="2194560"/>
            <a:ext cx="32918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veri (793); test 80.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 devam ediyor.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Gemma-4'e modele özel HP yok.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3977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ETİK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21040" y="42976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 amaç; veriler anonim.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destek; insan onayı esas.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kaynak, seed=42 tekrarlı.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QLoRA, düşük maliyetli donanımda Türkçe afet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sınıflandırmasını mümkün kılıyor.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0.094 → 0.914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7899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çöküyor, QLoRA çözüyor (Macro-F1)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1188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77647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· TinyLlama · Qwen2.5 · Gemma-4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 1–1.5B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Gemma-4 küçük veride aşırı uydurma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0684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verimli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7143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Qwen'e ~eşit skor, %35 daha az GPU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Gelecek: Gemma-4 için modele özel hiperparametre · 3 seed ortalama±std · few-shot · tam LoRA–QLoRA karşılaştırması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 — Sorular?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Türkçe Afet Tweet Sınıflandırma — QLoRA</dc:title>
  <dc:subject>PptxGenJS Presentation</dc:subject>
  <dc:creator>Mustafa Kırpık</dc:creator>
  <cp:lastModifiedBy>Mustafa Kırpık</cp:lastModifiedBy>
  <cp:revision>1</cp:revision>
  <dcterms:created xsi:type="dcterms:W3CDTF">2026-05-30T21:19:32Z</dcterms:created>
  <dcterms:modified xsi:type="dcterms:W3CDTF">2026-05-30T21:19:32Z</dcterms:modified>
</cp:coreProperties>
</file>