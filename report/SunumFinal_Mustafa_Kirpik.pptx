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Dağılım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8833A"/>
              </a:solidFill>
              <a:effectLst/>
            </c:spPr>
          </c:dPt>
          <c:dPt>
            <c:idx val="1"/>
            <c:bubble3D val="0"/>
            <c:spPr>
              <a:solidFill>
                <a:srgbClr val="5B6B7B"/>
              </a:solidFill>
              <a:effectLst/>
            </c:spPr>
          </c:dPt>
          <c:dPt>
            <c:idx val="2"/>
            <c:bubble3D val="0"/>
            <c:spPr>
              <a:solidFill>
                <a:srgbClr val="C96A28"/>
              </a:solidFill>
              <a:effectLst/>
            </c:spPr>
          </c:dPt>
          <c:dPt>
            <c:idx val="3"/>
            <c:bubble3D val="0"/>
            <c:spPr>
              <a:solidFill>
                <a:srgbClr val="16395C"/>
              </a:solidFill>
              <a:effectLst/>
            </c:spPr>
          </c:dPt>
          <c:dPt>
            <c:idx val="4"/>
            <c:bubble3D val="0"/>
            <c:spPr>
              <a:solidFill>
                <a:srgbClr val="2A9D8F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Yardım</c:v>
                </c:pt>
                <c:pt idx="1">
                  <c:v>Diğer</c:v>
                </c:pt>
                <c:pt idx="2">
                  <c:v>Bağış</c:v>
                </c:pt>
                <c:pt idx="3">
                  <c:v>Altyapı</c:v>
                </c:pt>
                <c:pt idx="4">
                  <c:v>Kayıp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289</c:v>
                </c:pt>
                <c:pt idx="1">
                  <c:v>201</c:v>
                </c:pt>
                <c:pt idx="2">
                  <c:v>105</c:v>
                </c:pt>
                <c:pt idx="3">
                  <c:v>100</c:v>
                </c:pt>
                <c:pt idx="4">
                  <c:v>98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solidFill>
                <a:srgbClr val="1B273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SmolLM2-360M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Yardım</c:v>
                  </c:pt>
                  <c:pt idx="1">
                    <c:v>Kayıp</c:v>
                  </c:pt>
                  <c:pt idx="2">
                    <c:v>Altyapı</c:v>
                  </c:pt>
                  <c:pt idx="3">
                    <c:v>Bağış</c:v>
                  </c:pt>
                  <c:pt idx="4">
                    <c:v>Diğer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0.85</c:v>
                </c:pt>
                <c:pt idx="1">
                  <c:v>0.38</c:v>
                </c:pt>
                <c:pt idx="2">
                  <c:v>0.59</c:v>
                </c:pt>
                <c:pt idx="3">
                  <c:v>0.42</c:v>
                </c:pt>
                <c:pt idx="4">
                  <c:v>0.7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TinyLlama-1.1B</c:v>
                </c:pt>
              </c:strCache>
            </c:strRef>
          </c:tx>
          <c:spPr>
            <a:solidFill>
              <a:srgbClr val="1639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Yardım</c:v>
                  </c:pt>
                  <c:pt idx="1">
                    <c:v>Kayıp</c:v>
                  </c:pt>
                  <c:pt idx="2">
                    <c:v>Altyapı</c:v>
                  </c:pt>
                  <c:pt idx="3">
                    <c:v>Bağış</c:v>
                  </c:pt>
                  <c:pt idx="4">
                    <c:v>Diğer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0.95</c:v>
                </c:pt>
                <c:pt idx="1">
                  <c:v>0.95</c:v>
                </c:pt>
                <c:pt idx="2">
                  <c:v>0.95</c:v>
                </c:pt>
                <c:pt idx="3">
                  <c:v>0.74</c:v>
                </c:pt>
                <c:pt idx="4">
                  <c:v>0.95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Qwen2.5-1.5B</c:v>
                </c:pt>
              </c:strCache>
            </c:strRef>
          </c:tx>
          <c:spPr>
            <a:solidFill>
              <a:srgbClr val="E883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Yardım</c:v>
                  </c:pt>
                  <c:pt idx="1">
                    <c:v>Kayıp</c:v>
                  </c:pt>
                  <c:pt idx="2">
                    <c:v>Altyapı</c:v>
                  </c:pt>
                  <c:pt idx="3">
                    <c:v>Bağış</c:v>
                  </c:pt>
                  <c:pt idx="4">
                    <c:v>Diğer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0.95</c:v>
                </c:pt>
                <c:pt idx="1">
                  <c:v>0.89</c:v>
                </c:pt>
                <c:pt idx="2">
                  <c:v>1</c:v>
                </c:pt>
                <c:pt idx="3">
                  <c:v>0.78</c:v>
                </c:pt>
                <c:pt idx="4">
                  <c:v>0.95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7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D9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73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Macro-F1</c:v>
                </c:pt>
              </c:strCache>
            </c:strRef>
          </c:tx>
          <c:spPr>
            <a:solidFill>
              <a:srgbClr val="E8833A"/>
            </a:solidFill>
            <a:ln w="50800" cap="flat">
              <a:solidFill>
                <a:srgbClr val="E883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F2741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E8833A"/>
              </a:solidFill>
              <a:ln w="9525" cap="flat">
                <a:solidFill>
                  <a:srgbClr val="E883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360M
SmolLM2</c:v>
                  </c:pt>
                  <c:pt idx="1">
                    <c:v>1.1B
TinyLlama</c:v>
                  </c:pt>
                  <c:pt idx="2">
                    <c:v>1.5B
Qwen2.5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0.588</c:v>
                </c:pt>
                <c:pt idx="1">
                  <c:v>0.908</c:v>
                </c:pt>
                <c:pt idx="2">
                  <c:v>0.914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0F2741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7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4"/>
        </c:scaling>
        <c:delete val="0"/>
        <c:axPos val="l"/>
        <c:majorGridlines>
          <c:spPr>
            <a:ln w="6350" cap="flat">
              <a:solidFill>
                <a:srgbClr val="D9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7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3716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BÜYÜK DİL MODELLERİ — DÖNEM PROJESİ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210312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Sınıflandırması için</a:t>
            </a:r>
            <a:endParaRPr lang="en-US" sz="4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QLoRA Tabanlı İnce Ayar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36118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AF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Küçük Dil Modelleri Üzerinde Karşılaştırmalı Benchmark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466344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</a:t>
            </a: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F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Koordinasyon: Saliha Göçergi (LoRA çalışması)</a:t>
            </a: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F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Selçuk Üniversitesi · Mayıs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MOTIVASYON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Afette Bilgi Yığını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0"/>
          </a:xfrm>
          <a:prstGeom prst="line">
            <a:avLst/>
          </a:prstGeom>
          <a:noFill/>
          <a:ln w="19050">
            <a:solidFill>
              <a:srgbClr val="D9E1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 Kahramanmaraş depremlerinde Twitter (X), yardım çağrılarının, kayıp bildirimlerinin ve koordinasyonun aktığı kritik bir kanal oldu.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hacmi manuel analizi imkânsız kılıyor → otomatik sınıflandırma bir karar destek ihtiyacı.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Hedef: düşük maliyetli donanımda çalışabilen Küçük Dil Modellerini QLoRA ile ince ayarlamak.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89520" y="1645920"/>
            <a:ext cx="4023360" cy="3840480"/>
          </a:xfrm>
          <a:prstGeom prst="roundRect">
            <a:avLst>
              <a:gd name="adj" fmla="val 1905"/>
            </a:avLst>
          </a:prstGeom>
          <a:solidFill>
            <a:srgbClr val="0F2741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0" y="18745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ARAŞTIRMA SORULARI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0" y="2377440"/>
            <a:ext cx="3520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SLM'ler QLoRA ile yeterli doğruluğa ulaşır mı?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boyutu–başarı ilişkisi nedir, nerede doygunlaşır?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vs QLoRA: doğruluk–bellek dengesi?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6355080"/>
            <a:ext cx="11091672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 · QLoRA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 · BDM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36599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GÖREV TANIMI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Sınıflı Taksonomi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0"/>
          </a:xfrm>
          <a:prstGeom prst="line">
            <a:avLst/>
          </a:prstGeom>
          <a:noFill/>
          <a:ln w="19050">
            <a:solidFill>
              <a:srgbClr val="D9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1640"/>
            <a:ext cx="1097280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63500" dist="25400" dir="5400000">
              <a:srgbClr val="9AAA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856232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E8833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8562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463040" y="18105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Yardım Talebi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63040" y="21488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Acil yardım, kurtarma, malzeme çağrısı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92640" y="1929384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n=289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2624328"/>
            <a:ext cx="1097280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63500" dist="25400" dir="5400000">
              <a:srgbClr val="9AAA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2788920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2A9D8F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7889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463040" y="2743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Kayıp Bildirimi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63040" y="3081528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Ulaşılamayan / kayıp kişi aramaları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692640" y="2862072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n=98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3557016"/>
            <a:ext cx="1097280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63500" dist="25400" dir="5400000">
              <a:srgbClr val="9AAAB8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721608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16395C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721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463040" y="367588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Altyapı Hasarı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63040" y="4014216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Yıkık bina, kapalı yol, şebeke kesintisi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92640" y="37947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63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n=100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40080" y="4489704"/>
            <a:ext cx="1097280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63500" dist="25400" dir="5400000">
              <a:srgbClr val="9AAA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77240" y="4654296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C96A28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46542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463040" y="460857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Bağış / Koordinasyon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463040" y="4946904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Bağış, IBAN, gönüllü, lojistik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692640" y="472744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96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n=105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0080" y="5422392"/>
            <a:ext cx="1097280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63500" dist="25400" dir="5400000">
              <a:srgbClr val="9AAAB8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77240" y="5586984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5B6B7B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558698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463040" y="554126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Diğer / İlgisiz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463040" y="5879592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Haber, taziye, eleştiri, off-topic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692640" y="5660136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n=201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548640" y="6355080"/>
            <a:ext cx="11091672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 · QLoRA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 · BDM 2026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599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Elle Etiketlenmiş Tweet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0"/>
          </a:xfrm>
          <a:prstGeom prst="line">
            <a:avLst/>
          </a:prstGeom>
          <a:noFill/>
          <a:ln w="19050">
            <a:solidFill>
              <a:srgbClr val="D9E1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603504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gerçek deprem tweet'i, beş sınıfa elle etiketlendi.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Zayıf etiketleme ve sentetik üretim denendi; etiket kalitesi için elle etiketli set tercih edildi (dürüstlük beyanı raporda).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 işleme: URL/@kullanıcı anonimleştirme, boşluk normalizasyonu. Türkçe karakter, hashtag, emoji korundu.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Bölme: %80/10/10 stratified → 633 / 80 / 80 · seed=42</a:t>
            </a:r>
            <a:endParaRPr lang="en-US" sz="16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949440" y="1600200"/>
          <a:ext cx="4663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6355080"/>
            <a:ext cx="11091672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 · QLoRA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 · BDM 2026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599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YÖNTEM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QLoRA ve Modeller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0"/>
          </a:xfrm>
          <a:prstGeom prst="line">
            <a:avLst/>
          </a:prstGeom>
          <a:noFill/>
          <a:ln w="19050">
            <a:solidFill>
              <a:srgbClr val="D9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45920"/>
            <a:ext cx="5212080" cy="3840480"/>
          </a:xfrm>
          <a:prstGeom prst="roundRect">
            <a:avLst>
              <a:gd name="adj" fmla="val 1905"/>
            </a:avLst>
          </a:prstGeom>
          <a:solidFill>
            <a:srgbClr val="0F2741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74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QLoRA NEDİR?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33172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4-bit NormalFloat (NF4) kuantizasyon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Çift kuantizasyon + sayfalı optimizasyon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LoRA: r=16, α=32, hedef q/k/v/o_proj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Eğitilebilir parametre &lt; %1</a:t>
            </a: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Üretken SFT: model kategori adını üretir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09360" y="1783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KULLANILAN MODELLER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240280"/>
          <a:ext cx="530352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371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SmolLM2-360M-Instruct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TinyLlama-1.1B-Chat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Qwen2.5-1.5B-Instruct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5B6B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Gemma-4-E2B-it (planlanan)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i="1" dirty="0">
                          <a:solidFill>
                            <a:srgbClr val="5B6B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309360" y="502920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Donanım: Google Colab — NVIDIA T4 (16 GB) · 3 epoch · lr 2e-4 · bf16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6355080"/>
            <a:ext cx="11091672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 · QLoRA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 · BDM 2026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36599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SONUÇLAR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Standart Sonuç Tablosu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0"/>
          </a:xfrm>
          <a:prstGeom prst="line">
            <a:avLst/>
          </a:prstGeom>
          <a:noFill/>
          <a:ln w="19050">
            <a:solidFill>
              <a:srgbClr val="D9E1E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1463040"/>
                <a:gridCol w="1920240"/>
                <a:gridCol w="1737360"/>
                <a:gridCol w="16459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Yöntem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Macro-F1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Weig-F1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GPU (GB)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TinyLlama-1.1B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Zero-shot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SmolLM2-360M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QLoRA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TinyLlama-1.1B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QLoRA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Qwen2.5-1.5B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QLoRA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5349240"/>
            <a:ext cx="10972800" cy="868680"/>
          </a:xfrm>
          <a:prstGeom prst="roundRect">
            <a:avLst>
              <a:gd name="adj" fmla="val 6316"/>
            </a:avLst>
          </a:prstGeom>
          <a:solidFill>
            <a:srgbClr val="FFF3E6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544068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6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Temel bulgu:  </a:t>
            </a:r>
            <a:pPr indent="0" marL="0"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görevde çöküyor (Macro-F1 0.094) → QLoRA çarpıcı iyileşme sağlıyor (0.914). Tüm fine-tuned modeller 0/80 ayrıştırma hatası.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6355080"/>
            <a:ext cx="11091672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 · QLoRA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 · BDM 2026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599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SONUÇLAR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Sınıf Bazlı F1 Karşılaştırması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0"/>
          </a:xfrm>
          <a:prstGeom prst="line">
            <a:avLst/>
          </a:prstGeom>
          <a:noFill/>
          <a:ln w="19050">
            <a:solidFill>
              <a:srgbClr val="D9E1E8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640080" y="1645920"/>
          <a:ext cx="7589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503920" y="1783080"/>
            <a:ext cx="3108960" cy="3931920"/>
          </a:xfrm>
          <a:prstGeom prst="roundRect">
            <a:avLst>
              <a:gd name="adj" fmla="val 2353"/>
            </a:avLst>
          </a:prstGeom>
          <a:solidFill>
            <a:srgbClr val="0F2741"/>
          </a:solidFill>
          <a:ln/>
        </p:spPr>
      </p:sp>
      <p:sp>
        <p:nvSpPr>
          <p:cNvPr id="8" name="Text 5"/>
          <p:cNvSpPr/>
          <p:nvPr/>
        </p:nvSpPr>
        <p:spPr>
          <a:xfrm>
            <a:off x="8732520" y="19659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OKUMA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732520" y="2377440"/>
            <a:ext cx="26974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SmolLM2 azınlık sınıflarda çöküyor (Kayıp 0.38, Bağış 0.42).</a:t>
            </a:r>
            <a:endParaRPr lang="en-US" sz="125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TinyLlama &amp; Qwen azınlık sınıfları çözüyor.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b="1" dirty="0">
                <a:solidFill>
                  <a:srgbClr val="FFD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Bağış her modelde en zayıf — Yardım ile örtüşme.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6355080"/>
            <a:ext cx="11091672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 · QLoRA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 · BDM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36599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Ölçek Etkisi ve Verimlilik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0"/>
          </a:xfrm>
          <a:prstGeom prst="line">
            <a:avLst/>
          </a:prstGeom>
          <a:noFill/>
          <a:ln w="19050">
            <a:solidFill>
              <a:srgbClr val="D9E1E8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640080" y="1691640"/>
          <a:ext cx="60350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949440" y="18288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Büyük sıçrama, sonra doygunluk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360M → 1.1B: +0.32 Macro-F1 (büyük)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1.1B → 1.5B: +0.006 (marjinal)</a:t>
            </a:r>
            <a:endParaRPr lang="en-US" sz="17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≈1B parametrede getiri doygunlaşıyor.</a:t>
            </a:r>
            <a:endParaRPr lang="en-US" sz="1700" dirty="0"/>
          </a:p>
          <a:p>
            <a:pPr indent="0" marL="0">
              <a:buNone/>
            </a:pPr>
            <a:r>
              <a:rPr lang="en-US" sz="1400" b="1" dirty="0">
                <a:solidFill>
                  <a:srgbClr val="C96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Verimlilik:  </a:t>
            </a:r>
            <a:pPr indent="0" marL="0"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TinyLlama, Qwen'e neredeyse eşit skoru %35 daha az GPU ile (3.29 vs 5.07 GB) veriyor.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6355080"/>
            <a:ext cx="11091672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 · QLoRA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 · BDM 2026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599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HATA ANALIZI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Bağış/Koordinasyon: Evrensel Zayıf Nokta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0"/>
          </a:xfrm>
          <a:prstGeom prst="line">
            <a:avLst/>
          </a:prstGeom>
          <a:noFill/>
          <a:ln w="19050">
            <a:solidFill>
              <a:srgbClr val="D9E1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64008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modellerde en zayıf sınıf Bağış/Koordinasyon (F1: 0.42 / 0.74 / 0.78).</a:t>
            </a:r>
            <a:endParaRPr lang="en-US" sz="15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Neden? Bağış tweet'leri de malzeme, adres, ihtiyaç ifadeleri içeriyor → Yardım Talebi ile semantik örtüşme.</a:t>
            </a:r>
            <a:endParaRPr lang="en-US" sz="15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TinyLlama: 11 bağıştan 4'ü yanlış (2 Yardım). Qwen: 2'si Yardım'a kaydı.</a:t>
            </a:r>
            <a:endParaRPr lang="en-US" sz="1550" dirty="0"/>
          </a:p>
          <a:p>
            <a:pPr indent="0" marL="0">
              <a:buNone/>
            </a:pPr>
            <a:r>
              <a:rPr lang="en-US" sz="1500" b="1" dirty="0">
                <a:solidFill>
                  <a:srgbClr val="C96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yorumu: </a:t>
            </a:r>
            <a:pPr indent="0" marL="0"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Afette yanlış negatif kritik. Yardım Talebi'nde recall yüksek (TinyLlama 0.97, Qwen 1.00) — en kritik sınıf güvende.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406640" y="17373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 — Karışıklık (özet)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2148840"/>
          <a:ext cx="4206240" cy="914400"/>
        </p:xfrm>
        <a:graphic>
          <a:graphicData uri="http://schemas.openxmlformats.org/drawingml/2006/table">
            <a:tbl>
              <a:tblPr/>
              <a:tblGrid>
                <a:gridCol w="694944"/>
                <a:gridCol w="702259"/>
                <a:gridCol w="702259"/>
                <a:gridCol w="702259"/>
                <a:gridCol w="702259"/>
                <a:gridCol w="702259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406640" y="50292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Köşegen = doğru. Bağış→Yardım kaymaları görülüyor.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6355080"/>
            <a:ext cx="11091672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 · QLoRA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 · BDM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36599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KARŞILAŞTIRMA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vs QLoRA (Projenin Ana Katkısı)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0"/>
          </a:xfrm>
          <a:prstGeom prst="line">
            <a:avLst/>
          </a:prstGeom>
          <a:noFill/>
          <a:ln w="19050">
            <a:solidFill>
              <a:srgbClr val="D9E1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Saliha Göçergi'nin LoRA sonuçları + bu çalışmanın QLoRA sonuçları → aynı veri, model ve seed ile adil karşılaştırma.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68880"/>
          <a:ext cx="73152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103120"/>
                <a:gridCol w="210312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QLoRA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 / Macro-F1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5B6B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(beklenen ≈)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0.925 / 0.91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Tepe GPU belleği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5B6B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(daha yüksek)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 – 5.1 GB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Eğitim süresi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B6B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– 36 dk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229600" y="2468880"/>
            <a:ext cx="3383280" cy="2377440"/>
          </a:xfrm>
          <a:prstGeom prst="roundRect">
            <a:avLst>
              <a:gd name="adj" fmla="val 3077"/>
            </a:avLst>
          </a:prstGeom>
          <a:solidFill>
            <a:srgbClr val="FFF3E6"/>
          </a:solidFill>
          <a:ln w="19050">
            <a:solidFill>
              <a:srgbClr val="E8833A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8412480" y="26974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6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YER TUTUCU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412480" y="315468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Saliha'nın LoRA sonuçları gelince bu tablo gerçek değerlerle doldurulacak.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51206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Beklenti: benzer doğruluk, QLoRA lehine belirgin bellek tasarrufu — düşük maliyetli donanım için QLoRA avantajlı.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6355080"/>
            <a:ext cx="11091672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 · QLoRA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 · BDM 2026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36599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DEĞERLENDIRME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Limitasyonlar ve Etik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0"/>
          </a:xfrm>
          <a:prstGeom prst="line">
            <a:avLst/>
          </a:prstGeom>
          <a:noFill/>
          <a:ln w="19050">
            <a:solidFill>
              <a:srgbClr val="D9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164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F27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LİMİTASYONLAR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37744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Küçük veri (793); test sadece 80 → azınlık sınıf varyansı yüksek.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seed (42); çok-seed ortalama±std gelecek işe bırakıldı.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Gemma-4 donanım kısıtıyla ertelendi (eklenecek).</a:t>
            </a:r>
            <a:endParaRPr lang="en-US" sz="1300" dirty="0"/>
          </a:p>
          <a:p>
            <a:pPr marL="152400" indent="-152400"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Twitter tabanı genel nüfusu temsil etmez.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69164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0F2741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19202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ETİK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237744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Veriler yalnızca akademik amaç; kullanıcı etiketleri anonimleştirildi.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 destek aracı — insan operatör onayı esas; tek başına karar verici değil.</a:t>
            </a:r>
            <a:endParaRPr lang="en-US" sz="1300" dirty="0"/>
          </a:p>
          <a:p>
            <a:pPr marL="152400" indent="-1524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Açık kaynak + seed=42 ile tam tekrarlanabilirlik.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6355080"/>
            <a:ext cx="11091672" cy="0"/>
          </a:xfrm>
          <a:prstGeom prst="line">
            <a:avLst/>
          </a:prstGeom>
          <a:noFill/>
          <a:ln w="12700">
            <a:solidFill>
              <a:srgbClr val="D9E1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Afet Tweet Sınıflandırma · QLoRA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982712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Mustafa Kırpık · BDM 2026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6599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7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QLoRA, düşük maliyetli donanımda Türkçe afet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sınıflandırmasını mümkün kılıyor.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2880360"/>
            <a:ext cx="2542032" cy="1828800"/>
          </a:xfrm>
          <a:prstGeom prst="roundRect">
            <a:avLst>
              <a:gd name="adj" fmla="val 4000"/>
            </a:avLst>
          </a:prstGeom>
          <a:solidFill>
            <a:srgbClr val="16395C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063240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0.094 → 0.914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78992" y="3749040"/>
            <a:ext cx="22128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çöküyor, QLoRA çözüyor (Macro-F1)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2880360"/>
            <a:ext cx="2542032" cy="1828800"/>
          </a:xfrm>
          <a:prstGeom prst="roundRect">
            <a:avLst>
              <a:gd name="adj" fmla="val 4000"/>
            </a:avLst>
          </a:prstGeom>
          <a:solidFill>
            <a:srgbClr val="16395C"/>
          </a:solidFill>
          <a:ln/>
        </p:spPr>
      </p:sp>
      <p:sp>
        <p:nvSpPr>
          <p:cNvPr id="9" name="Text 7"/>
          <p:cNvSpPr/>
          <p:nvPr/>
        </p:nvSpPr>
        <p:spPr>
          <a:xfrm>
            <a:off x="3703320" y="3063240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model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3776472" y="3749040"/>
            <a:ext cx="22128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SmolLM2 · TinyLlama · Qwen2.5 — şart karşılandı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2880360"/>
            <a:ext cx="2542032" cy="1828800"/>
          </a:xfrm>
          <a:prstGeom prst="roundRect">
            <a:avLst>
              <a:gd name="adj" fmla="val 4000"/>
            </a:avLst>
          </a:prstGeom>
          <a:solidFill>
            <a:srgbClr val="16395C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3063240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 GB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473952" y="3749040"/>
            <a:ext cx="22128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Tepe GPU belleği — full fine-tune 20+ GB isterdi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06840" y="2880360"/>
            <a:ext cx="2542032" cy="1828800"/>
          </a:xfrm>
          <a:prstGeom prst="roundRect">
            <a:avLst>
              <a:gd name="adj" fmla="val 4000"/>
            </a:avLst>
          </a:prstGeom>
          <a:solidFill>
            <a:srgbClr val="16395C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3063240"/>
            <a:ext cx="2359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iyi: Qwen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9171432" y="3749040"/>
            <a:ext cx="22128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TinyLlama ise en verimli (daha az GPU, ~eşit skor)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502920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F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Gelecek: Gemma-4-E2B (4. model) · 3 seed ortalama±std · few-shot · tam LoRA–QLoRA karşılaştırması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4400" y="57607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Teşekkürler — Sorular?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Türkçe Afet Tweet Sınıflandırma — QLoRA</dc:title>
  <dc:subject>PptxGenJS Presentation</dc:subject>
  <dc:creator>Mustafa Kırpık</dc:creator>
  <cp:lastModifiedBy>Mustafa Kırpık</cp:lastModifiedBy>
  <cp:revision>1</cp:revision>
  <dcterms:created xsi:type="dcterms:W3CDTF">2026-05-26T18:29:23Z</dcterms:created>
  <dcterms:modified xsi:type="dcterms:W3CDTF">2026-05-26T18:29:23Z</dcterms:modified>
</cp:coreProperties>
</file>