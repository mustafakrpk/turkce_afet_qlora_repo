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Dağılım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833A"/>
              </a:solidFill>
              <a:effectLst/>
            </c:spPr>
          </c:dPt>
          <c:dPt>
            <c:idx val="1"/>
            <c:bubble3D val="0"/>
            <c:spPr>
              <a:solidFill>
                <a:srgbClr val="5B6B7B"/>
              </a:solidFill>
              <a:effectLst/>
            </c:spPr>
          </c:dPt>
          <c:dPt>
            <c:idx val="2"/>
            <c:bubble3D val="0"/>
            <c:spPr>
              <a:solidFill>
                <a:srgbClr val="C96A28"/>
              </a:solidFill>
              <a:effectLst/>
            </c:spPr>
          </c:dPt>
          <c:dPt>
            <c:idx val="3"/>
            <c:bubble3D val="0"/>
            <c:spPr>
              <a:solidFill>
                <a:srgbClr val="16395C"/>
              </a:solidFill>
              <a:effectLst/>
            </c:spPr>
          </c:dPt>
          <c:dPt>
            <c:idx val="4"/>
            <c:bubble3D val="0"/>
            <c:spPr>
              <a:solidFill>
                <a:srgbClr val="2A9D8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Yardım</c:v>
                </c:pt>
                <c:pt idx="1">
                  <c:v>Diğer</c:v>
                </c:pt>
                <c:pt idx="2">
                  <c:v>Bağış</c:v>
                </c:pt>
                <c:pt idx="3">
                  <c:v>Altyapı</c:v>
                </c:pt>
                <c:pt idx="4">
                  <c:v>Kayıp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289</c:v>
                </c:pt>
                <c:pt idx="1">
                  <c:v>201</c:v>
                </c:pt>
                <c:pt idx="2">
                  <c:v>105</c:v>
                </c:pt>
                <c:pt idx="3">
                  <c:v>100</c:v>
                </c:pt>
                <c:pt idx="4">
                  <c:v>98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1B27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SmolLM2-360M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Yardım</c:v>
                  </c:pt>
                  <c:pt idx="1">
                    <c:v>Kayıp</c:v>
                  </c:pt>
                  <c:pt idx="2">
                    <c:v>Altyapı</c:v>
                  </c:pt>
                  <c:pt idx="3">
                    <c:v>Bağış</c:v>
                  </c:pt>
                  <c:pt idx="4">
                    <c:v>Diğer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0.85</c:v>
                </c:pt>
                <c:pt idx="1">
                  <c:v>0.38</c:v>
                </c:pt>
                <c:pt idx="2">
                  <c:v>0.59</c:v>
                </c:pt>
                <c:pt idx="3">
                  <c:v>0.42</c:v>
                </c:pt>
                <c:pt idx="4">
                  <c:v>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TinyLlama-1.1B</c:v>
                </c:pt>
              </c:strCache>
            </c:strRef>
          </c:tx>
          <c:spPr>
            <a:solidFill>
              <a:srgbClr val="1639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Yardım</c:v>
                  </c:pt>
                  <c:pt idx="1">
                    <c:v>Kayıp</c:v>
                  </c:pt>
                  <c:pt idx="2">
                    <c:v>Altyapı</c:v>
                  </c:pt>
                  <c:pt idx="3">
                    <c:v>Bağış</c:v>
                  </c:pt>
                  <c:pt idx="4">
                    <c:v>Diğer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0.95</c:v>
                </c:pt>
                <c:pt idx="1">
                  <c:v>0.95</c:v>
                </c:pt>
                <c:pt idx="2">
                  <c:v>0.95</c:v>
                </c:pt>
                <c:pt idx="3">
                  <c:v>0.74</c:v>
                </c:pt>
                <c:pt idx="4">
                  <c:v>0.95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Qwen2.5-1.5B</c:v>
                </c:pt>
              </c:strCache>
            </c:strRef>
          </c:tx>
          <c:spPr>
            <a:solidFill>
              <a:srgbClr val="E88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Yardım</c:v>
                  </c:pt>
                  <c:pt idx="1">
                    <c:v>Kayıp</c:v>
                  </c:pt>
                  <c:pt idx="2">
                    <c:v>Altyapı</c:v>
                  </c:pt>
                  <c:pt idx="3">
                    <c:v>Bağış</c:v>
                  </c:pt>
                  <c:pt idx="4">
                    <c:v>Diğer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0.95</c:v>
                </c:pt>
                <c:pt idx="1">
                  <c:v>0.89</c:v>
                </c:pt>
                <c:pt idx="2">
                  <c:v>1</c:v>
                </c:pt>
                <c:pt idx="3">
                  <c:v>0.78</c:v>
                </c:pt>
                <c:pt idx="4">
                  <c:v>0.95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Gemma-4-E2B</c:v>
                </c:pt>
              </c:strCache>
            </c:strRef>
          </c:tx>
          <c:spPr>
            <a:solidFill>
              <a:srgbClr val="C96A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Yardım</c:v>
                  </c:pt>
                  <c:pt idx="1">
                    <c:v>Kayıp</c:v>
                  </c:pt>
                  <c:pt idx="2">
                    <c:v>Altyapı</c:v>
                  </c:pt>
                  <c:pt idx="3">
                    <c:v>Bağış</c:v>
                  </c:pt>
                  <c:pt idx="4">
                    <c:v>Diğer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0.86</c:v>
                </c:pt>
                <c:pt idx="1">
                  <c:v>0.46</c:v>
                </c:pt>
                <c:pt idx="2">
                  <c:v>0.91</c:v>
                </c:pt>
                <c:pt idx="3">
                  <c:v>0.76</c:v>
                </c:pt>
                <c:pt idx="4">
                  <c:v>0.71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9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7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E8833A"/>
            </a:solidFill>
            <a:ln w="50800" cap="flat">
              <a:solidFill>
                <a:srgbClr val="E883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F2741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E8833A"/>
              </a:solidFill>
              <a:ln w="9525" cap="flat">
                <a:solidFill>
                  <a:srgbClr val="E883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360M
SmolLM2</c:v>
                  </c:pt>
                  <c:pt idx="1">
                    <c:v>1.1B
TinyLlama</c:v>
                  </c:pt>
                  <c:pt idx="2">
                    <c:v>1.5B
Qwen2.5</c:v>
                  </c:pt>
                  <c:pt idx="3">
                    <c:v>5B
Gemma-4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0.588</c:v>
                </c:pt>
                <c:pt idx="1">
                  <c:v>0.908</c:v>
                </c:pt>
                <c:pt idx="2">
                  <c:v>0.914</c:v>
                </c:pt>
                <c:pt idx="3">
                  <c:v>0.74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F2741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6350" cap="flat">
              <a:solidFill>
                <a:srgbClr val="D9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DİL MODELLERİ — DÖNEM PROJESİ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Afet Tweet Sınıflandırması için</a:t>
            </a:r>
            <a:endParaRPr lang="en-US" sz="4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Tabanlı İnce Ayar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Dil Modelleri Üzerinde Karşılaştırmalı Benchmark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66344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Kırpık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Koordinasyon: Saliha Göçergi (LoRA çalışması)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Selçuk Üniversitesi · Mayıs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MOTIVASYON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Afette Bilgi Yığını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9050">
            <a:solidFill>
              <a:srgbClr val="D9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6583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Kahramanmaraş depremlerinde Twitter (X), yardım çağrılarının, kayıp bildirimlerinin ve koordinasyonun aktığı kritik bir kanal oldu.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hacmi manuel analizi imkânsız kılıyor → otomatik sınıflandırma bir karar destek ihtiyacı.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Hedef: düşük maliyetli donanımda çalışabilen Küçük Dil Modellerini QLoRA ile ince ayarlamak.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89520" y="1645920"/>
            <a:ext cx="4023360" cy="3840480"/>
          </a:xfrm>
          <a:prstGeom prst="roundRect">
            <a:avLst>
              <a:gd name="adj" fmla="val 1905"/>
            </a:avLst>
          </a:prstGeom>
          <a:solidFill>
            <a:srgbClr val="0F2741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0" y="1874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ARAŞTIRMA SORULARI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0" y="2377440"/>
            <a:ext cx="3520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SLM'ler QLoRA ile yeterli doğruluğa ulaşır mı?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boyutu–başarı ilişkisi nedir, nerede doygunlaşır?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vs QLoRA: doğruluk–bellek dengesi?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Afet Tweet Sınıflandırma · QLoRA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Kırpık · BDM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 TANIMI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Sınıflı Taksonomi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9050">
            <a:solidFill>
              <a:srgbClr val="D9E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10972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5623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E8833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562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18105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Yardım Talebi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148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Acil yardım, kurtarma, malzeme çağrısı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92640" y="192938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n=289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624328"/>
            <a:ext cx="10972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278892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7889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Kayıp Bildirimi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0815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Ulaşılamayan / kayıp kişi aramaları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92640" y="28620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n=98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3557016"/>
            <a:ext cx="10972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8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721608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16395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721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36758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Altyapı Hasarı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01421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Yıkık bina, kapalı yol, şebeke kesintisi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92640" y="3794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6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n=100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4489704"/>
            <a:ext cx="10972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8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654296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C96A28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6542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463040" y="460857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Bağış / Koordinasyon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63040" y="494690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Bağış, IBAN, gönüllü, lojistik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92640" y="47274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96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n=105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0080" y="5422392"/>
            <a:ext cx="10972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8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7240" y="5586984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5B6B7B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5869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463040" y="554126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Diğer / İlgisiz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63040" y="58795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Haber, taziye, eleştiri, off-topic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92640" y="566013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n=201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Afet Tweet Sınıflandırma · QLoRA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Kırpık · BDM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793 Elle Etiketlenmiş Tweet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9050">
            <a:solidFill>
              <a:srgbClr val="D9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6035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Kaggle "Turkey Earthquake Relief Tweets" (Ulku Tuncer Küçüktaş, 2023).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havuzdan 793 tweet seçilip beş sınıfa elle etiketlendi.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metin Kaggle'dan; 5 sınıflı etiketler bu çalışmaya özgü. Zayıf/sentetik etiketleme denendi, kalite için elle etiketli set tercih edildi.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 işleme: URL/@kullanıcı anonimleştirme, boşluk normalizasyonu. Türkçe karakter, hashtag, emoji korundu.</a:t>
            </a:r>
            <a:endParaRPr lang="en-US" sz="1350" dirty="0"/>
          </a:p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Bölme: %80/10/10 stratified → 633 / 80 / 80 · seed=42</a:t>
            </a:r>
            <a:endParaRPr lang="en-US" sz="13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949440" y="1600200"/>
          <a:ext cx="46634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Afet Tweet Sınıflandırma · QLoRA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Kırpık · BDM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ve Modeller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9050">
            <a:solidFill>
              <a:srgbClr val="D9E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45920"/>
            <a:ext cx="5212080" cy="3840480"/>
          </a:xfrm>
          <a:prstGeom prst="roundRect">
            <a:avLst>
              <a:gd name="adj" fmla="val 1905"/>
            </a:avLst>
          </a:prstGeom>
          <a:solidFill>
            <a:srgbClr val="0F274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NEDİR?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NormalFloat (NF4) kuantizasyon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 kuantizasyon + sayfalı optimizasyon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LoRA: r=16, α=32, hedef q/k/v/o_proj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Eğitilebilir parametre &lt; %1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SFT: model kategori adını üretir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0936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F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KULLANILAN MODELLER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240280"/>
          <a:ext cx="53035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371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9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SmolLM2-360M-Instruct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TinyLlama-1.1B-Chat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Qwen2.5-1.5B-Instruct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Gemma-4-E2B-it (Unsloth)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5B / ~2B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309360" y="50292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Donanım: Google Colab — NVIDIA T4 (16 GB) · 3 epoch · lr 2e-4 · bf16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Afet Tweet Sınıflandırma · QLoRA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Kırpık · BDM 2026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 Sonuç Tablosu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9050">
            <a:solidFill>
              <a:srgbClr val="D9E1E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463040"/>
                <a:gridCol w="1920240"/>
                <a:gridCol w="1737360"/>
                <a:gridCol w="1645920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Weig-F1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(GB)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TinyLlama-1.1B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SmolLM2-360M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QLoRA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TinyLlama-1.1B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QLoRA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Qwen2.5-1.5B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QLoRA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Gemma-4-E2B (5B)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QLoRA (Unsloth)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166360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FF3E6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5257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6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bulgu:  </a:t>
            </a:r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çöküyor (0.094) → QLoRA çarpıcı iyileşme (0.914).  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Sürpriz: </a:t>
            </a:r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büyük model Gemma-4 (5B) en küçük modellerin gerisinde — küçük veride aşırı uydurma. Tüm fine-tuned modeller 0/80 parse hatası.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Afet Tweet Sınıflandırma · QLoRA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Kırpık · BDM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Bazlı F1 Karşılaştırması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9050">
            <a:solidFill>
              <a:srgbClr val="D9E1E8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640080" y="1645920"/>
          <a:ext cx="7589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503920" y="1783080"/>
            <a:ext cx="3108960" cy="3931920"/>
          </a:xfrm>
          <a:prstGeom prst="roundRect">
            <a:avLst>
              <a:gd name="adj" fmla="val 2353"/>
            </a:avLst>
          </a:prstGeom>
          <a:solidFill>
            <a:srgbClr val="0F2741"/>
          </a:solidFill>
          <a:ln/>
        </p:spPr>
      </p:sp>
      <p:sp>
        <p:nvSpPr>
          <p:cNvPr id="8" name="Text 5"/>
          <p:cNvSpPr/>
          <p:nvPr/>
        </p:nvSpPr>
        <p:spPr>
          <a:xfrm>
            <a:off x="8732520" y="1965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OKUMA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732520" y="2331720"/>
            <a:ext cx="2697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TinyLlama &amp; Qwen tüm sınıflarda güçlü.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SmolLM2 azınlık sınıflarda çöküyor.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D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Gemma-4 Kayıp'ta zayıf (recall 0.30) — overfit etkisi.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b="1" dirty="0">
                <a:solidFill>
                  <a:srgbClr val="FFD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Bağış 3 modelde en zayıf — Yardım ile örtüşme.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Afet Tweet Sınıflandırma · QLoRA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Kırpık · BDM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 Etkisi ve Verimlilik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9050">
            <a:solidFill>
              <a:srgbClr val="D9E1E8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640080" y="169164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949440" y="182880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0F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≠ better (küçük veride)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360M → 1.1B: +0.32 (büyük sıçrama)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1.1B → 1.5B: +0.006 (doygunluk)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1.5B → 5B: −0.17 (Gemma-4 aşırı uydurma!)</a:t>
            </a:r>
            <a:endParaRPr lang="en-US" sz="17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spot: </a:t>
            </a:r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1–1.5B. TinyLlama, Qwen'e ~eşit skoru %35 daha az GPU ile veriyor (3.29 vs 5.07 GB).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Afet Tweet Sınıflandırma · QLoRA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Kırpık · BDM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ANALIZI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Bağış/Koordinasyon: Evrensel Zayıf Nokta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9050">
            <a:solidFill>
              <a:srgbClr val="D9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6400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modellerde en zayıf sınıf Bağış/Koordinasyon (F1: 0.42 / 0.74 / 0.78).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Neden? Bağış tweet'leri de malzeme, adres, ihtiyaç ifadeleri içeriyor → Yardım Talebi ile semantik örtüşme.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TinyLlama: 11 bağıştan 4'ü yanlış (2 Yardım). Qwen: 2'si Yardım'a kaydı.</a:t>
            </a:r>
            <a:endParaRPr lang="en-US" sz="1550" dirty="0"/>
          </a:p>
          <a:p>
            <a:pPr indent="0" marL="0">
              <a:buNone/>
            </a:pPr>
            <a:r>
              <a:rPr lang="en-US" sz="1500" b="1" dirty="0">
                <a:solidFill>
                  <a:srgbClr val="C96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yorumu: </a:t>
            </a:r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Afette yanlış negatif kritik. Yardım Talebi'nde recall yüksek (TinyLlama 0.97, Qwen 1.00) — en kritik sınıf güvende.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406640" y="17373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 — Karışıklık (özet)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148840"/>
          <a:ext cx="4206240" cy="914400"/>
        </p:xfrm>
        <a:graphic>
          <a:graphicData uri="http://schemas.openxmlformats.org/drawingml/2006/table">
            <a:tbl>
              <a:tblPr/>
              <a:tblGrid>
                <a:gridCol w="694944"/>
                <a:gridCol w="702259"/>
                <a:gridCol w="702259"/>
                <a:gridCol w="702259"/>
                <a:gridCol w="702259"/>
                <a:gridCol w="702259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406640" y="50292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Köşegen = doğru. Bağış→Yardım kaymaları görülüyor.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Afet Tweet Sınıflandırma · QLoRA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Kırpık · BDM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KARŞILAŞTIRMA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vs QLoRA (Projenin Ana Katkısı)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9050">
            <a:solidFill>
              <a:srgbClr val="D9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Saliha Göçergi'nin LoRA sonuçları + bu çalışmanın QLoRA sonuçları → aynı veri, model ve seed ile adil karşılaştırma.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73152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103120"/>
                <a:gridCol w="210312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Boyut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QLoRA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/ Macro-F1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(beklenen ≈)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0.925 / 0.91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Tepe GPU belleği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(daha yüksek)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 – 5.1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Eğitim süresi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– 36 dk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229600" y="246888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FF3E6"/>
          </a:solidFill>
          <a:ln w="19050">
            <a:solidFill>
              <a:srgbClr val="E8833A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8412480" y="2697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6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 TUTUCU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12480" y="31546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Saliha'nın LoRA sonuçları gelince bu tablo gerçek değerlerle doldurulacak.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Beklenti: benzer doğruluk, QLoRA lehine belirgin bellek tasarrufu — düşük maliyetli donanım için QLoRA avantajlı.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Afet Tweet Sınıflandırma · QLoRA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Kırpık · BDM 2026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Limitasyonlar ve Etik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9050">
            <a:solidFill>
              <a:srgbClr val="D9E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F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LİMİTASYONLAR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veri (793); test sadece 80 → azınlık sınıf varyansı yüksek.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seed (42); çok-seed ortalama±std gelecek işe bırakıldı.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Gemma-4 için modele özel hiperparametre araması yapılmadı (ortak reçete).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tabanı genel nüfusu temsil etmez.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0F274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ETİK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3774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Veriler yalnızca akademik amaç; kullanıcı etiketleri anonimleştirildi.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destek aracı — insan operatör onayı esas; tek başına karar verici değil.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kaynak + seed=42 ile tam tekrarlanabilirlik.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Afet Tweet Sınıflandırma · QLoRA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Kırpık · BDM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7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QLoRA, düşük maliyetli donanımda Türkçe afet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sınıflandırmasını mümkün kılıyor.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88036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16395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06324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0.094 → 0.914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78992" y="374904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çöküyor, QLoRA çözüyor (Macro-F1)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11880" y="288036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16395C"/>
          </a:solidFill>
          <a:ln/>
        </p:spPr>
      </p:sp>
      <p:sp>
        <p:nvSpPr>
          <p:cNvPr id="9" name="Text 7"/>
          <p:cNvSpPr/>
          <p:nvPr/>
        </p:nvSpPr>
        <p:spPr>
          <a:xfrm>
            <a:off x="3703320" y="306324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776472" y="374904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SmolLM2 · TinyLlama · Qwen2.5 · Gemma-4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288036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16395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306324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 1–1.5B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73952" y="374904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 Gemma-4 küçük veride aşırı uydurma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06840" y="288036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16395C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306324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TinyLlama verimli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71432" y="374904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5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Qwen'e ~eşit skor, %35 daha az GPU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Gelecek: Gemma-4 için modele özel hiperparametre · 3 seed ortalama±std · few-shot · tam LoRA–QLoRA karşılaştırması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 — Sorular?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Türkçe Afet Tweet Sınıflandırma — QLoRA</dc:title>
  <dc:subject>PptxGenJS Presentation</dc:subject>
  <dc:creator>Mustafa Kırpık</dc:creator>
  <cp:lastModifiedBy>Mustafa Kırpık</cp:lastModifiedBy>
  <cp:revision>1</cp:revision>
  <dcterms:created xsi:type="dcterms:W3CDTF">2026-05-28T12:11:49Z</dcterms:created>
  <dcterms:modified xsi:type="dcterms:W3CDTF">2026-05-28T12:11:49Z</dcterms:modified>
</cp:coreProperties>
</file>